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3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0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12A545-5126-4037-9E95-A277020C98EB}" v="4" dt="2026-04-28T09:13:49.7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1" autoAdjust="0"/>
  </p:normalViewPr>
  <p:slideViewPr>
    <p:cSldViewPr snapToGrid="0" snapToObjects="1">
      <p:cViewPr varScale="1">
        <p:scale>
          <a:sx n="111" d="100"/>
          <a:sy n="111" d="100"/>
        </p:scale>
        <p:origin x="66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iya Hassan" userId="9677a058adfb93d1" providerId="LiveId" clId="{565C0ABB-DF0B-46FB-A21D-74CE2D602B04}"/>
    <pc:docChg chg="undo custSel addSld delSld modSld sldOrd">
      <pc:chgData name="Ansiya Hassan" userId="9677a058adfb93d1" providerId="LiveId" clId="{565C0ABB-DF0B-46FB-A21D-74CE2D602B04}" dt="2026-05-02T17:08:41.049" v="1653" actId="2696"/>
      <pc:docMkLst>
        <pc:docMk/>
      </pc:docMkLst>
      <pc:sldChg chg="addSp modSp mod">
        <pc:chgData name="Ansiya Hassan" userId="9677a058adfb93d1" providerId="LiveId" clId="{565C0ABB-DF0B-46FB-A21D-74CE2D602B04}" dt="2026-04-28T07:11:55.745" v="1580" actId="20577"/>
        <pc:sldMkLst>
          <pc:docMk/>
          <pc:sldMk cId="0" sldId="256"/>
        </pc:sldMkLst>
        <pc:spChg chg="mod">
          <ac:chgData name="Ansiya Hassan" userId="9677a058adfb93d1" providerId="LiveId" clId="{565C0ABB-DF0B-46FB-A21D-74CE2D602B04}" dt="2026-04-28T07:08:10.831" v="1207" actId="1035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7:08:10.831" v="1207" actId="1035"/>
          <ac:spMkLst>
            <pc:docMk/>
            <pc:sldMk cId="0" sldId="256"/>
            <ac:spMk id="7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7:08:10.831" v="1207" actId="1035"/>
          <ac:spMkLst>
            <pc:docMk/>
            <pc:sldMk cId="0" sldId="256"/>
            <ac:spMk id="8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7:08:43.011" v="1277" actId="1035"/>
          <ac:spMkLst>
            <pc:docMk/>
            <pc:sldMk cId="0" sldId="256"/>
            <ac:spMk id="9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7:09:00.559" v="1317" actId="10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7:09:00.559" v="1317" actId="10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7:09:00.559" v="1317" actId="103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7:11:55.745" v="1580" actId="20577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Ansiya Hassan" userId="9677a058adfb93d1" providerId="LiveId" clId="{565C0ABB-DF0B-46FB-A21D-74CE2D602B04}" dt="2026-04-28T07:10:01.931" v="1433" actId="1036"/>
          <ac:spMkLst>
            <pc:docMk/>
            <pc:sldMk cId="0" sldId="256"/>
            <ac:spMk id="16" creationId="{0AD5879C-C14A-C41E-F8A2-0160AD4ECD6A}"/>
          </ac:spMkLst>
        </pc:spChg>
      </pc:sldChg>
      <pc:sldChg chg="ord">
        <pc:chgData name="Ansiya Hassan" userId="9677a058adfb93d1" providerId="LiveId" clId="{565C0ABB-DF0B-46FB-A21D-74CE2D602B04}" dt="2026-04-28T04:26:53.831" v="1155"/>
        <pc:sldMkLst>
          <pc:docMk/>
          <pc:sldMk cId="0" sldId="257"/>
        </pc:sldMkLst>
      </pc:sldChg>
      <pc:sldChg chg="modSp mod">
        <pc:chgData name="Ansiya Hassan" userId="9677a058adfb93d1" providerId="LiveId" clId="{565C0ABB-DF0B-46FB-A21D-74CE2D602B04}" dt="2026-04-28T05:19:00.748" v="1157" actId="20577"/>
        <pc:sldMkLst>
          <pc:docMk/>
          <pc:sldMk cId="0" sldId="258"/>
        </pc:sldMkLst>
        <pc:spChg chg="mod">
          <ac:chgData name="Ansiya Hassan" userId="9677a058adfb93d1" providerId="LiveId" clId="{565C0ABB-DF0B-46FB-A21D-74CE2D602B04}" dt="2026-04-28T05:19:00.748" v="1157" actId="20577"/>
          <ac:spMkLst>
            <pc:docMk/>
            <pc:sldMk cId="0" sldId="258"/>
            <ac:spMk id="37" creationId="{00000000-0000-0000-0000-000000000000}"/>
          </ac:spMkLst>
        </pc:spChg>
      </pc:sldChg>
      <pc:sldChg chg="ord">
        <pc:chgData name="Ansiya Hassan" userId="9677a058adfb93d1" providerId="LiveId" clId="{565C0ABB-DF0B-46FB-A21D-74CE2D602B04}" dt="2026-04-28T04:26:27.159" v="1153"/>
        <pc:sldMkLst>
          <pc:docMk/>
          <pc:sldMk cId="0" sldId="259"/>
        </pc:sldMkLst>
      </pc:sldChg>
      <pc:sldChg chg="modSp mod">
        <pc:chgData name="Ansiya Hassan" userId="9677a058adfb93d1" providerId="LiveId" clId="{565C0ABB-DF0B-46FB-A21D-74CE2D602B04}" dt="2026-04-28T10:10:19.619" v="1651" actId="403"/>
        <pc:sldMkLst>
          <pc:docMk/>
          <pc:sldMk cId="0" sldId="261"/>
        </pc:sldMkLst>
        <pc:spChg chg="mod">
          <ac:chgData name="Ansiya Hassan" userId="9677a058adfb93d1" providerId="LiveId" clId="{565C0ABB-DF0B-46FB-A21D-74CE2D602B04}" dt="2026-04-28T10:10:19.619" v="1651" actId="403"/>
          <ac:spMkLst>
            <pc:docMk/>
            <pc:sldMk cId="0" sldId="261"/>
            <ac:spMk id="5" creationId="{00000000-0000-0000-0000-000000000000}"/>
          </ac:spMkLst>
        </pc:spChg>
        <pc:spChg chg="mod">
          <ac:chgData name="Ansiya Hassan" userId="9677a058adfb93d1" providerId="LiveId" clId="{565C0ABB-DF0B-46FB-A21D-74CE2D602B04}" dt="2026-04-28T10:10:19.619" v="1651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siya Hassan" userId="9677a058adfb93d1" providerId="LiveId" clId="{565C0ABB-DF0B-46FB-A21D-74CE2D602B04}" dt="2026-04-28T10:10:19.619" v="1651" actId="40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nsiya Hassan" userId="9677a058adfb93d1" providerId="LiveId" clId="{565C0ABB-DF0B-46FB-A21D-74CE2D602B04}" dt="2026-04-28T10:10:19.619" v="1651" actId="403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nsiya Hassan" userId="9677a058adfb93d1" providerId="LiveId" clId="{565C0ABB-DF0B-46FB-A21D-74CE2D602B04}" dt="2026-04-28T10:10:19.619" v="1651" actId="40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Ansiya Hassan" userId="9677a058adfb93d1" providerId="LiveId" clId="{565C0ABB-DF0B-46FB-A21D-74CE2D602B04}" dt="2026-04-28T10:10:19.619" v="1651" actId="403"/>
          <ac:spMkLst>
            <pc:docMk/>
            <pc:sldMk cId="0" sldId="261"/>
            <ac:spMk id="20" creationId="{00000000-0000-0000-0000-000000000000}"/>
          </ac:spMkLst>
        </pc:spChg>
      </pc:sldChg>
      <pc:sldChg chg="addSp delSp modSp mod">
        <pc:chgData name="Ansiya Hassan" userId="9677a058adfb93d1" providerId="LiveId" clId="{565C0ABB-DF0B-46FB-A21D-74CE2D602B04}" dt="2026-04-28T02:25:20.968" v="1148" actId="1035"/>
        <pc:sldMkLst>
          <pc:docMk/>
          <pc:sldMk cId="0" sldId="266"/>
        </pc:sldMkLst>
        <pc:spChg chg="mod">
          <ac:chgData name="Ansiya Hassan" userId="9677a058adfb93d1" providerId="LiveId" clId="{565C0ABB-DF0B-46FB-A21D-74CE2D602B04}" dt="2026-04-28T02:16:58.186" v="52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3:34.079" v="1033" actId="1038"/>
          <ac:spMkLst>
            <pc:docMk/>
            <pc:sldMk cId="0" sldId="266"/>
            <ac:spMk id="3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5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17:14.028" v="178" actId="1037"/>
          <ac:spMkLst>
            <pc:docMk/>
            <pc:sldMk cId="0" sldId="266"/>
            <ac:spMk id="6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4:46.137" v="1053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4:46.137" v="1053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03.624" v="1083" actId="10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2:09.346" v="836" actId="103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11.822" v="1115" actId="103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2:25:20.968" v="1148" actId="1035"/>
          <ac:spMkLst>
            <pc:docMk/>
            <pc:sldMk cId="0" sldId="266"/>
            <ac:spMk id="21" creationId="{00000000-0000-0000-0000-000000000000}"/>
          </ac:spMkLst>
        </pc:spChg>
        <pc:picChg chg="add mod">
          <ac:chgData name="Ansiya Hassan" userId="9677a058adfb93d1" providerId="LiveId" clId="{565C0ABB-DF0B-46FB-A21D-74CE2D602B04}" dt="2026-04-28T02:23:51.468" v="1049" actId="14100"/>
          <ac:picMkLst>
            <pc:docMk/>
            <pc:sldMk cId="0" sldId="266"/>
            <ac:picMk id="23" creationId="{F03532D1-2BF0-7A0E-CA99-9317AAF225FB}"/>
          </ac:picMkLst>
        </pc:picChg>
      </pc:sldChg>
      <pc:sldChg chg="modSp mod">
        <pc:chgData name="Ansiya Hassan" userId="9677a058adfb93d1" providerId="LiveId" clId="{565C0ABB-DF0B-46FB-A21D-74CE2D602B04}" dt="2026-04-28T07:07:25.943" v="1161" actId="20577"/>
        <pc:sldMkLst>
          <pc:docMk/>
          <pc:sldMk cId="0" sldId="268"/>
        </pc:sldMkLst>
        <pc:spChg chg="mod">
          <ac:chgData name="Ansiya Hassan" userId="9677a058adfb93d1" providerId="LiveId" clId="{565C0ABB-DF0B-46FB-A21D-74CE2D602B04}" dt="2026-04-28T07:07:25.943" v="1161" actId="20577"/>
          <ac:spMkLst>
            <pc:docMk/>
            <pc:sldMk cId="0" sldId="268"/>
            <ac:spMk id="3" creationId="{00000000-0000-0000-0000-000000000000}"/>
          </ac:spMkLst>
        </pc:spChg>
      </pc:sldChg>
      <pc:sldChg chg="delSp modSp mod">
        <pc:chgData name="Ansiya Hassan" userId="9677a058adfb93d1" providerId="LiveId" clId="{565C0ABB-DF0B-46FB-A21D-74CE2D602B04}" dt="2026-04-28T09:51:18.811" v="1638" actId="1036"/>
        <pc:sldMkLst>
          <pc:docMk/>
          <pc:sldMk cId="0" sldId="270"/>
        </pc:sldMkLst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7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8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9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Ansiya Hassan" userId="9677a058adfb93d1" providerId="LiveId" clId="{565C0ABB-DF0B-46FB-A21D-74CE2D602B04}" dt="2026-04-28T09:51:18.811" v="1638" actId="1036"/>
          <ac:spMkLst>
            <pc:docMk/>
            <pc:sldMk cId="0" sldId="270"/>
            <ac:spMk id="20" creationId="{00000000-0000-0000-0000-000000000000}"/>
          </ac:spMkLst>
        </pc:spChg>
      </pc:sldChg>
      <pc:sldChg chg="addSp delSp modSp add del mod setBg">
        <pc:chgData name="Ansiya Hassan" userId="9677a058adfb93d1" providerId="LiveId" clId="{565C0ABB-DF0B-46FB-A21D-74CE2D602B04}" dt="2026-05-02T17:08:41.049" v="1653" actId="2696"/>
        <pc:sldMkLst>
          <pc:docMk/>
          <pc:sldMk cId="1530179786" sldId="272"/>
        </pc:sldMkLst>
      </pc:sldChg>
      <pc:sldChg chg="addSp delSp modSp add mod setBg">
        <pc:chgData name="Ansiya Hassan" userId="9677a058adfb93d1" providerId="LiveId" clId="{565C0ABB-DF0B-46FB-A21D-74CE2D602B04}" dt="2026-04-28T09:56:24.628" v="1645" actId="1076"/>
        <pc:sldMkLst>
          <pc:docMk/>
          <pc:sldMk cId="103021891" sldId="273"/>
        </pc:sldMkLst>
        <pc:spChg chg="mod">
          <ac:chgData name="Ansiya Hassan" userId="9677a058adfb93d1" providerId="LiveId" clId="{565C0ABB-DF0B-46FB-A21D-74CE2D602B04}" dt="2026-04-28T09:56:10.361" v="1643" actId="1076"/>
          <ac:spMkLst>
            <pc:docMk/>
            <pc:sldMk cId="103021891" sldId="273"/>
            <ac:spMk id="2" creationId="{F3584B2D-7CCB-F1BE-FA61-AEF334654DCA}"/>
          </ac:spMkLst>
        </pc:spChg>
        <pc:picChg chg="add mod">
          <ac:chgData name="Ansiya Hassan" userId="9677a058adfb93d1" providerId="LiveId" clId="{565C0ABB-DF0B-46FB-A21D-74CE2D602B04}" dt="2026-04-28T09:56:06.464" v="1641" actId="14100"/>
          <ac:picMkLst>
            <pc:docMk/>
            <pc:sldMk cId="103021891" sldId="273"/>
            <ac:picMk id="21" creationId="{C565F110-5BF0-DE61-2431-8C57B0832D5F}"/>
          </ac:picMkLst>
        </pc:picChg>
        <pc:picChg chg="add mod">
          <ac:chgData name="Ansiya Hassan" userId="9677a058adfb93d1" providerId="LiveId" clId="{565C0ABB-DF0B-46FB-A21D-74CE2D602B04}" dt="2026-04-28T09:56:24.628" v="1645" actId="1076"/>
          <ac:picMkLst>
            <pc:docMk/>
            <pc:sldMk cId="103021891" sldId="273"/>
            <ac:picMk id="23" creationId="{8778C4F5-20A8-F360-F3AC-DB5B69FDD2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14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B2A81-17EE-F2B2-89FC-D2F3DAD38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37082-7B79-4238-9AC9-D5DF3EC21C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F974D-27E5-CB03-7247-D3E5D81B7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9F365-76D1-A4DF-C8A4-C8E59170C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144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0" y="731520"/>
            <a:ext cx="1920240" cy="3840480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949440" y="822960"/>
            <a:ext cx="1737360" cy="1737360"/>
          </a:xfrm>
          <a:prstGeom prst="line">
            <a:avLst/>
          </a:prstGeom>
          <a:solidFill>
            <a:srgbClr val="2E86DE">
              <a:alpha val="70000"/>
            </a:srgbClr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949440" y="2743200"/>
            <a:ext cx="1737360" cy="1737360"/>
          </a:xfrm>
          <a:prstGeom prst="line">
            <a:avLst/>
          </a:prstGeom>
          <a:solidFill>
            <a:srgbClr val="0FB8AD">
              <a:alpha val="70000"/>
            </a:srgbClr>
          </a:solidFill>
          <a:ln w="12700">
            <a:solidFill>
              <a:srgbClr val="0FB8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24446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Bone Fracture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855966"/>
            <a:ext cx="6217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770366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EfficientNetV2 with Transfer Learning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250251"/>
            <a:ext cx="5943600" cy="36576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449285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Paper: "Bone Fracture Classification Using Deep Learning Models with Transfer Learning"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888197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IEEE ISAS 2025  |  DOI: 10.1109/ISAS66241.2025.11101746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27109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DOI: 10.17632/8d9kn57pdj.1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77369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  --  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ASNA ABBAS, 253108, 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  <a:latin typeface="Calibri "/>
              </a:rPr>
              <a:t>DACS</a:t>
            </a:r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Fracture  •  Comminuted Fracture  |  2,384 Original X-Ray Images</a:t>
            </a:r>
            <a:endParaRPr lang="en-US" sz="11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0AD5879C-C14A-C41E-F8A2-0160AD4ECD6A}"/>
              </a:ext>
            </a:extLst>
          </p:cNvPr>
          <p:cNvSpPr/>
          <p:nvPr/>
        </p:nvSpPr>
        <p:spPr>
          <a:xfrm>
            <a:off x="444600" y="3731626"/>
            <a:ext cx="6217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MSc Data Science &amp; Computational Techniques — Capstone Project (2nd Evaluation)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64008" cy="16916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bone X-rays into Simple Fracture or Comminuted Fracture using deep learning transfer learning with EfficientNetV2S.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64008" cy="1691640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204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2,384 original X-ray images — 1,211 Simple Fracture &amp; 1,173 Comminuted Fracture. Balanced binary classification task.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64008" cy="1691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EfficientNetV2S pre-trained on ImageNet. Custom classification head added. Two-phase training: feature extraction + fine-tuning.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64008" cy="16916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2040" y="30175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Publication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published at IEEE ISAS 2025. Reproduction of methodology as MSc Capstone 2nd Evaluation project.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D4F6A-E860-ABA1-EA3D-C10020D9A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584B2D-7CCB-F1BE-FA61-AEF334654DCA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8657037-D93D-4C1E-3182-D08E33425903}"/>
              </a:ext>
            </a:extLst>
          </p:cNvPr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565F110-5BF0-DE61-2431-8C57B0832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03" y="1615735"/>
            <a:ext cx="6519824" cy="16103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78C4F5-20A8-F360-F3AC-DB5B69FDD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460" y="3448121"/>
            <a:ext cx="3332575" cy="152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2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Details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6576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563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94560" y="1563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36576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20208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94560" y="20208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2,384 (original only)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36576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24780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Fracture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94560" y="24780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1,211 images (50.8%)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36576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7200" y="29352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Comminuted Fracture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94560" y="29352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1,173 images (49.2%)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36576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33924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Type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94560" y="33924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(grayscale/RGB)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94760"/>
            <a:ext cx="36576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3849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94560" y="38496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pixels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36576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43068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94560" y="430682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(2 classes)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960120"/>
            <a:ext cx="43891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66344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Hyperparameters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1508760"/>
            <a:ext cx="41148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63440" y="15636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66560" y="1563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1965960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63440" y="20208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766560" y="20208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(16 for lighter mode)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0" y="2423160"/>
            <a:ext cx="41148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663440" y="24780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66560" y="24780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(Phase 1 + Phase 2)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0" y="2880360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663440" y="29352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66560" y="2935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 (Phase 1)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0" y="3337560"/>
            <a:ext cx="41148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663440" y="33924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LR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766560" y="33924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 (Phase 2)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0" y="3794760"/>
            <a:ext cx="41148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663440" y="38496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766560" y="38496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 |  15%  |  15%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0" y="4251960"/>
            <a:ext cx="4114800" cy="402336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663440" y="4306824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766560" y="43068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(reproducibility)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Augmentation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47548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Training Augmentation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90472"/>
            <a:ext cx="4023360" cy="384048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54533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1/255 — normalize to [0.0, 1.0]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4023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Range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97510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 degrees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4023360" cy="384048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1480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Shift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2404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79776"/>
            <a:ext cx="4023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148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Shift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28346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209544"/>
            <a:ext cx="4023360" cy="384048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1480" y="3264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Shear Range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639312"/>
            <a:ext cx="4023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1480" y="36941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Range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286000" y="36941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069080"/>
            <a:ext cx="4023360" cy="384048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1480" y="41239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412394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498848"/>
            <a:ext cx="40233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11480" y="4553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Mode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0" y="45537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663440" y="960120"/>
            <a:ext cx="4114800" cy="475488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54880" y="98755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Validation &amp; Test (No Aug)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1508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rescaling is applied — no geometric transforms.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prevents data leakage and ensures fair evaluation.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Rescale: 1/255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63440" y="2926080"/>
            <a:ext cx="41148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0600" y="3017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Augmentation?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006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Increases effective training set size artificially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776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Reduces overfitting on small medical datasets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0600" y="412394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Improves generalization to unseen X-ray views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00600" y="447141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Simulates natural variation in X-ray acquisition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4480560" cy="9144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371600" y="11704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(70%)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5819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~1,669 images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960120" cy="914400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52160" y="11704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(15%)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0" y="158191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~357 images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12280" y="1097280"/>
            <a:ext cx="960120" cy="9144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12280" y="1170432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(15%)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12280" y="1581912"/>
            <a:ext cx="960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~358 images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27889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74320" y="2377440"/>
            <a:ext cx="64008" cy="242316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912" y="2468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🏋️  Training Set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23160" y="2514600"/>
            <a:ext cx="502920" cy="502920"/>
          </a:xfrm>
          <a:prstGeom prst="line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423160" y="25420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8912" y="2852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~1,669 images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127248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update model weights. Data augmentation applied: rotation ±20°, horizontal flip, zoom 10%, width/height shift, shear.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2377440"/>
            <a:ext cx="27889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00400" y="2377440"/>
            <a:ext cx="64008" cy="2423160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64992" y="2468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Validation Set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49240" y="2514600"/>
            <a:ext cx="502920" cy="502920"/>
          </a:xfrm>
          <a:prstGeom prst="line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49240" y="25420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2852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~357 images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64992" y="3127248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model performance during training. NO augmentation — only rescaling to [0,1]. Guides early stopping &amp; LR reduction.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26480" y="2377440"/>
            <a:ext cx="278892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126480" y="2377440"/>
            <a:ext cx="64008" cy="24231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91072" y="2468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Set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75320" y="2514600"/>
            <a:ext cx="502920" cy="502920"/>
          </a:xfrm>
          <a:prstGeom prst="lin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75320" y="254203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28529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~358 images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91072" y="3127248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unseen data. Never touched during training. Final evaluation of Accuracy, AUC, Precision, Recall, F1-Score.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train_test_split with random_state=42 ensures reproducibility across all runs.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Model Architecture — EfficientNetV2S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234440" cy="1463040"/>
          </a:xfrm>
          <a:prstGeom prst="rect">
            <a:avLst/>
          </a:prstGeom>
          <a:solidFill>
            <a:srgbClr val="3D517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27048" y="1627632"/>
            <a:ext cx="146304" cy="36576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91640" y="960120"/>
            <a:ext cx="2011680" cy="1463040"/>
          </a:xfrm>
          <a:prstGeom prst="rect">
            <a:avLst/>
          </a:prstGeom>
          <a:solidFill>
            <a:srgbClr val="2E86D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91640" y="100584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(ImageNet)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21608" y="1627632"/>
            <a:ext cx="146304" cy="36576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886200" y="960120"/>
            <a:ext cx="1234440" cy="1463040"/>
          </a:xfrm>
          <a:prstGeom prst="rect">
            <a:avLst/>
          </a:prstGeom>
          <a:solidFill>
            <a:srgbClr val="5A5E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86200" y="100584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38928" y="1627632"/>
            <a:ext cx="146304" cy="36576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03520" y="960120"/>
            <a:ext cx="1234440" cy="1463040"/>
          </a:xfrm>
          <a:prstGeom prst="rect">
            <a:avLst/>
          </a:prstGeom>
          <a:solidFill>
            <a:srgbClr val="6B4E9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03520" y="100584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BatchNorm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56248" y="1627632"/>
            <a:ext cx="146304" cy="36576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720840" y="960120"/>
            <a:ext cx="1234440" cy="1463040"/>
          </a:xfrm>
          <a:prstGeom prst="rect">
            <a:avLst/>
          </a:prstGeom>
          <a:solidFill>
            <a:srgbClr val="9B3B6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20840" y="1005840"/>
            <a:ext cx="1234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+Dense(128)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973568" y="1627632"/>
            <a:ext cx="146304" cy="36576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138160" y="960120"/>
            <a:ext cx="822960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38160" y="1005840"/>
            <a:ext cx="822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(Binary)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91640" y="2514600"/>
            <a:ext cx="2011680" cy="384048"/>
          </a:xfrm>
          <a:prstGeom prst="rect">
            <a:avLst/>
          </a:prstGeom>
          <a:solidFill>
            <a:srgbClr val="2E86DE">
              <a:alpha val="30000"/>
            </a:srgbClr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691640" y="254203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F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FROZEN (Phase 1)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691640" y="2926080"/>
            <a:ext cx="2011680" cy="384048"/>
          </a:xfrm>
          <a:prstGeom prst="rect">
            <a:avLst/>
          </a:prstGeom>
          <a:solidFill>
            <a:srgbClr val="E67E22">
              <a:alpha val="3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91640" y="295351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LAST 10 LAYERS (Phase 2)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429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Compilation Details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840480"/>
            <a:ext cx="2880360" cy="420624"/>
          </a:xfrm>
          <a:prstGeom prst="rect">
            <a:avLst/>
          </a:prstGeom>
          <a:solidFill>
            <a:srgbClr val="1A3A6E"/>
          </a:solidFill>
          <a:ln w="6350">
            <a:solidFill>
              <a:srgbClr val="3D51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5760" y="389534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Function: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00200" y="38953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46120" y="3840480"/>
            <a:ext cx="2880360" cy="420624"/>
          </a:xfrm>
          <a:prstGeom prst="rect">
            <a:avLst/>
          </a:prstGeom>
          <a:solidFill>
            <a:srgbClr val="1A3A6E"/>
          </a:solidFill>
          <a:ln w="6350">
            <a:solidFill>
              <a:srgbClr val="3D51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37560" y="389534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0" y="38953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3840480"/>
            <a:ext cx="2880360" cy="420624"/>
          </a:xfrm>
          <a:prstGeom prst="rect">
            <a:avLst/>
          </a:prstGeom>
          <a:solidFill>
            <a:srgbClr val="1A3A6E"/>
          </a:solidFill>
          <a:ln w="6350">
            <a:solidFill>
              <a:srgbClr val="3D51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09360" y="3895344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Activation: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43800" y="38953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(binary)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315968"/>
            <a:ext cx="2880360" cy="420624"/>
          </a:xfrm>
          <a:prstGeom prst="rect">
            <a:avLst/>
          </a:prstGeom>
          <a:solidFill>
            <a:srgbClr val="1A3A6E"/>
          </a:solidFill>
          <a:ln w="6350">
            <a:solidFill>
              <a:srgbClr val="3D51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65760" y="43708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Params (P1):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00200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~400K (head only)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46120" y="4315968"/>
            <a:ext cx="2880360" cy="420624"/>
          </a:xfrm>
          <a:prstGeom prst="rect">
            <a:avLst/>
          </a:prstGeom>
          <a:solidFill>
            <a:srgbClr val="1A3A6E"/>
          </a:solidFill>
          <a:ln w="6350">
            <a:solidFill>
              <a:srgbClr val="3D51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337560" y="43708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Params: 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0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~20M (backbone)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4315968"/>
            <a:ext cx="2880360" cy="420624"/>
          </a:xfrm>
          <a:prstGeom prst="rect">
            <a:avLst/>
          </a:prstGeom>
          <a:solidFill>
            <a:srgbClr val="1A3A6E"/>
          </a:solidFill>
          <a:ln w="6350">
            <a:solidFill>
              <a:srgbClr val="3D51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309360" y="437083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Tracked: 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43800" y="437083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AUC, Precision, Recall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Transfer Learning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5486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Feature Extraction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11480" y="1636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636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EfficientNetV2S (all layers FROZEN)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0299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093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classification head only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1480" y="25511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551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total (split into 2 runs)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1480" y="3008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008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1480" y="34655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11680" y="34655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5 epochs (val_loss)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8587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1480" y="3922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3922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0.5, Patience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3159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1480" y="43799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379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best_phase1.keras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96012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754880" y="960120"/>
            <a:ext cx="4114800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46320" y="10058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Fine-Tuning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0600" y="15727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92040" y="1636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1636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layers UNFROZEN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0299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92040" y="20939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2093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+ last 10 backbone layers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4871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2040" y="25511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551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total (split into 2 runs)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29443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92040" y="3008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30083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(10× smaller)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4015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92040" y="34655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34655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= 4 epochs (val_loss)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0600" y="3858768"/>
            <a:ext cx="40233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92040" y="39227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92240" y="39227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0.5, Patience 2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00600" y="4315968"/>
            <a:ext cx="4023360" cy="411480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892040" y="43799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92240" y="43799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best_phase2.keras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16552" y="2487168"/>
            <a:ext cx="320040" cy="54864"/>
          </a:xfrm>
          <a:prstGeom prst="rect">
            <a:avLst/>
          </a:prstGeom>
          <a:solidFill>
            <a:srgbClr val="3D517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389120" y="2377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Accuracy &amp; Loss Curves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3504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Vertical dashed line (Epoch ~20) marks start of Phase 2 fine-tuning in actual notebook output.</a:t>
            </a:r>
            <a:endParaRPr lang="en-US" sz="9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3BEFE1-BAFF-E346-C1EB-157155728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2960"/>
            <a:ext cx="9144000" cy="305417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762BBD-150B-2766-3629-49A2235561B2}"/>
              </a:ext>
            </a:extLst>
          </p:cNvPr>
          <p:cNvSpPr txBox="1"/>
          <p:nvPr/>
        </p:nvSpPr>
        <p:spPr>
          <a:xfrm>
            <a:off x="374072" y="3859884"/>
            <a:ext cx="8579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Total epochs </a:t>
            </a:r>
            <a:r>
              <a:rPr lang="en-US" b="0" i="0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plotted</a:t>
            </a:r>
            <a:r>
              <a:rPr lang="en-US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 : 35</a:t>
            </a:r>
          </a:p>
          <a:p>
            <a:r>
              <a:rPr lang="en-US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 Val Accuracy : 67.04%</a:t>
            </a:r>
            <a:endParaRPr lang="en-US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r>
              <a:rPr lang="en-US" b="0" i="0" dirty="0">
                <a:solidFill>
                  <a:schemeClr val="tx2"/>
                </a:solidFill>
                <a:effectLst/>
                <a:latin typeface="Courier New" panose="02070309020205020404" pitchFamily="49" charset="0"/>
              </a:rPr>
              <a:t>Best Val Loss : 0.6397</a:t>
            </a:r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Test Set Evaluation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1325880"/>
          </a:xfrm>
          <a:prstGeom prst="rect">
            <a:avLst/>
          </a:prstGeom>
          <a:solidFill>
            <a:srgbClr val="1A3A6E"/>
          </a:solidFill>
          <a:ln w="254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97480" cy="16459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040" y="121615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62.01%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97480" cy="1325880"/>
          </a:xfrm>
          <a:prstGeom prst="rect">
            <a:avLst/>
          </a:prstGeom>
          <a:solidFill>
            <a:srgbClr val="1A3A6E"/>
          </a:solidFill>
          <a:ln w="25400">
            <a:solidFill>
              <a:srgbClr val="0FB8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164592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246120" y="121615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0.6789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246120" y="1920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(ROC)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697480" cy="1325880"/>
          </a:xfrm>
          <a:prstGeom prst="rect">
            <a:avLst/>
          </a:prstGeom>
          <a:solidFill>
            <a:srgbClr val="1A3A6E"/>
          </a:solidFill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172200" y="960120"/>
            <a:ext cx="2697480" cy="16459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72200" y="121615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0.5943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172200" y="19202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2697480" cy="1325880"/>
          </a:xfrm>
          <a:prstGeom prst="rect">
            <a:avLst/>
          </a:prstGeom>
          <a:solidFill>
            <a:srgbClr val="1A3A6E"/>
          </a:solidFill>
          <a:ln w="254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2697480" cy="16459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0040" y="272491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0.7967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20040" y="3429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2468880"/>
            <a:ext cx="2697480" cy="1325880"/>
          </a:xfrm>
          <a:prstGeom prst="rect">
            <a:avLst/>
          </a:prstGeom>
          <a:solidFill>
            <a:srgbClr val="1A3A6E"/>
          </a:solidFill>
          <a:ln w="254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3246120" y="2468880"/>
            <a:ext cx="2697480" cy="16459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46120" y="272491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0.6808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46120" y="3429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72200" y="2468880"/>
            <a:ext cx="2697480" cy="1325880"/>
          </a:xfrm>
          <a:prstGeom prst="rect">
            <a:avLst/>
          </a:prstGeom>
          <a:solidFill>
            <a:srgbClr val="1A3A6E"/>
          </a:solidFill>
          <a:ln w="25400">
            <a:solidFill>
              <a:srgbClr val="E91E6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172200" y="2468880"/>
            <a:ext cx="2697480" cy="164592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172200" y="2724912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172200" y="34290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0040" y="4041648"/>
            <a:ext cx="8503920" cy="777240"/>
          </a:xfrm>
          <a:prstGeom prst="rect">
            <a:avLst/>
          </a:prstGeom>
          <a:solidFill>
            <a:srgbClr val="1A3A6E"/>
          </a:solidFill>
          <a:ln w="6350">
            <a:solidFill>
              <a:srgbClr val="3D51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Specificity: 43.8%  |  The model shows stronger recall for Simple Fractures but lower specificity for Comminuted Fractures — indicating room for improvement in distinguishing complex multi-fragment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 Confusion Matrix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(Normalized)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Comminuted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2608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234440" y="2011680"/>
            <a:ext cx="1188720" cy="1005840"/>
          </a:xfrm>
          <a:prstGeom prst="rect">
            <a:avLst/>
          </a:prstGeom>
          <a:solidFill>
            <a:srgbClr val="1A6E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234440" y="20574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~56%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68880" y="2011680"/>
            <a:ext cx="1188720" cy="10058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68880" y="20574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~44%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34440" y="3063240"/>
            <a:ext cx="1188720" cy="10058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34440" y="31089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468880" y="3063240"/>
            <a:ext cx="1188720" cy="1005840"/>
          </a:xfrm>
          <a:prstGeom prst="rect">
            <a:avLst/>
          </a:prstGeom>
          <a:solidFill>
            <a:srgbClr val="1A6E3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468880" y="31089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🟩 Correct predictions   🟥 Incorrect predictions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960120"/>
            <a:ext cx="4206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60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Breakdown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481328"/>
            <a:ext cx="4114800" cy="475488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00600" y="15179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Negatives (TN)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1719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fractures correctly identified as Simple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011680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00600" y="20482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(FP)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224942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fractures misclassified as Comminuted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542032"/>
            <a:ext cx="4114800" cy="475488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00600" y="25786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(FN)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27797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Comminuted misclassified as Simple fractures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072384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800600" y="31089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Positives (TP)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3101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Comminuted fractures correctly identified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3602736"/>
            <a:ext cx="4114800" cy="475488"/>
          </a:xfrm>
          <a:prstGeom prst="rect">
            <a:avLst/>
          </a:prstGeom>
          <a:solidFill>
            <a:srgbClr val="E8EEF5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00600" y="36393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(Recall)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384048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 — model detects most Simple Fractures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4133088"/>
            <a:ext cx="411480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D8E6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00600" y="416966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4370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 — lower ability to confirm Comminuted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31405" y="-74809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ROC Curve &amp; AUC Analysis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98542" y="4138245"/>
            <a:ext cx="2226900" cy="612183"/>
          </a:xfrm>
          <a:prstGeom prst="rect">
            <a:avLst/>
          </a:prstGeom>
          <a:solidFill>
            <a:srgbClr val="0D1B40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22336" y="3397595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7779" y="4138247"/>
            <a:ext cx="2226900" cy="612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0.6789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3066942" y="3945317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 Analysis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48441" y="4301382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Threshold: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92475" y="4301382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 (Youden's Index)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048441" y="4648854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(TPR):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968681" y="4648854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37121" y="428512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(1-FPR):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857361" y="4285128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43.8%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37121" y="4632600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 AUC: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857361" y="4632600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937136" y="3936361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over random: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857376" y="3936361"/>
            <a:ext cx="1188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+0.1789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4874209"/>
            <a:ext cx="8595360" cy="274320"/>
          </a:xfrm>
          <a:prstGeom prst="rect">
            <a:avLst/>
          </a:prstGeom>
          <a:solidFill>
            <a:srgbClr val="FFF8E7"/>
          </a:solidFill>
          <a:ln w="6350">
            <a:solidFill>
              <a:srgbClr val="F1C40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13776" y="4901745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AUC of 0.6789 indicates moderate discriminative ability. Values closer to 1.0 indicate perfect separation between classes.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3532D1-2BF0-7A0E-CA99-9317AAF22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78617"/>
            <a:ext cx="9144000" cy="35607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Simulation Workflow — Step by Step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02920" cy="71323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11247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0149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&amp; Config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1289304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Scikit-learn, Matplotlib imported. Paths and hyperparameters set.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502920" cy="713232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09160" y="11247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76088" y="10149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76088" y="1289304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2,384 images verified. Bar chart and pie chart of class distribution generated.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76479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4320" y="1764792"/>
            <a:ext cx="502920" cy="71323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74320" y="192938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1248" y="1819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Visualization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2093976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sample images from each class displayed at 224×224 to confirm dataset readability.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176479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709160" y="1764792"/>
            <a:ext cx="502920" cy="7132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09160" y="192938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76088" y="18196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76088" y="2093976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| 15% Val | 15% Test using sklearn with random_state=42.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56946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274320" y="2569464"/>
            <a:ext cx="502920" cy="713232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4320" y="273405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1248" y="2624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" y="2898648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rotation, flip, zoom, shift, shear. Val/Test: rescale only.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569464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709160" y="2569464"/>
            <a:ext cx="502920" cy="713232"/>
          </a:xfrm>
          <a:prstGeom prst="rect">
            <a:avLst/>
          </a:prstGeom>
          <a:solidFill>
            <a:srgbClr val="E91E6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09160" y="273405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76088" y="2624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76088" y="2898648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EfficientNetV2S + custom head (GAP → BN → Dense(256) → Dropout → Dense(1,sigmoid)).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37413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274320" y="3374136"/>
            <a:ext cx="502920" cy="713232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74320" y="35387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41248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Training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" y="3703320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 head only trained for 20 epochs (backbone frozen).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374136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09160" y="3374136"/>
            <a:ext cx="502920" cy="713232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09160" y="353872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276088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Fine-Tuning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76088" y="3703320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backbone layers unfrozen, LR=0.0001, 15 more epochs.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17880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274320" y="4178808"/>
            <a:ext cx="502920" cy="71323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74320" y="4343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41248" y="4233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1248" y="4507992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&amp; Loss plotted across both phases with phase transition marker.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4178808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8E6F3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09160" y="4178808"/>
            <a:ext cx="502920" cy="713232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709160" y="43434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276088" y="4233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76088" y="4507992"/>
            <a:ext cx="3474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accuracy, AUC, confusion matrix, ROC curve, classification report.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Conclusions &amp; 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242002"/>
            <a:ext cx="4160520" cy="1234440"/>
          </a:xfrm>
          <a:prstGeom prst="rect">
            <a:avLst/>
          </a:prstGeom>
          <a:solidFill>
            <a:srgbClr val="1A3A6E"/>
          </a:solidFill>
          <a:ln w="1905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74320" y="1242002"/>
            <a:ext cx="4160520" cy="109728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142488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Works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79064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EfficientNetV2S with ImageNet pre-training successfully adapted to the medical X-ray domain without training from scratch.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242002"/>
            <a:ext cx="4160520" cy="1234440"/>
          </a:xfrm>
          <a:prstGeom prst="rect">
            <a:avLst/>
          </a:prstGeom>
          <a:solidFill>
            <a:srgbClr val="1A3A6E"/>
          </a:solidFill>
          <a:ln w="19050">
            <a:solidFill>
              <a:srgbClr val="0FB8A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09160" y="1242002"/>
            <a:ext cx="4160520" cy="109728"/>
          </a:xfrm>
          <a:prstGeom prst="rect">
            <a:avLst/>
          </a:prstGeom>
          <a:solidFill>
            <a:srgbClr val="0FB8A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6320" y="142488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B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Approach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46320" y="179064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(feature extraction) + Phase 2 (fine-tuning last 10 layers) is an effective and computationally efficient training strategy.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613602"/>
            <a:ext cx="4160520" cy="1234440"/>
          </a:xfrm>
          <a:prstGeom prst="rect">
            <a:avLst/>
          </a:prstGeom>
          <a:solidFill>
            <a:srgbClr val="1A3A6E"/>
          </a:solidFill>
          <a:ln w="190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74320" y="2613602"/>
            <a:ext cx="4160520" cy="109728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1480" y="279648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Performance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316224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62.01% accuracy and AUC of 0.6789 indicate moderate classification ability. The model is better at detecting Simple Fractures (recall 79.7%).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613602"/>
            <a:ext cx="4160520" cy="1234440"/>
          </a:xfrm>
          <a:prstGeom prst="rect">
            <a:avLst/>
          </a:prstGeom>
          <a:solidFill>
            <a:srgbClr val="1A3A6E"/>
          </a:solidFill>
          <a:ln w="190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09160" y="2613602"/>
            <a:ext cx="4160520" cy="1097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6320" y="279648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Limitations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46320" y="3162242"/>
            <a:ext cx="3840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2,384 original images. Medical image datasets are typically small — more data or augmentation could improve performance.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1A3A6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ISAS 2025  |  DOI: 10.1109/ISAS66241.2025.11101746  |  MSc Data Science — Capstone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1296</Words>
  <Application>Microsoft Office PowerPoint</Application>
  <PresentationFormat>On-screen Show (16:9)</PresentationFormat>
  <Paragraphs>281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Bone Fracture Classification Using EfficientNetV2</dc:title>
  <dc:subject>PptxGenJS Presentation</dc:subject>
  <dc:creator>PptxGenJS</dc:creator>
  <cp:lastModifiedBy>Ansiya Hassan</cp:lastModifiedBy>
  <cp:revision>2</cp:revision>
  <dcterms:created xsi:type="dcterms:W3CDTF">2026-04-27T18:16:59Z</dcterms:created>
  <dcterms:modified xsi:type="dcterms:W3CDTF">2026-05-02T17:08:51Z</dcterms:modified>
</cp:coreProperties>
</file>